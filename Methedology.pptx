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00" r:id="rId4"/>
  </p:sldMasterIdLst>
  <p:notesMasterIdLst>
    <p:notesMasterId r:id="rId8"/>
  </p:notesMasterIdLst>
  <p:handoutMasterIdLst>
    <p:handoutMasterId r:id="rId9"/>
  </p:handoutMasterIdLst>
  <p:sldIdLst>
    <p:sldId id="2147470791" r:id="rId5"/>
    <p:sldId id="2147470731" r:id="rId6"/>
    <p:sldId id="2147470793" r:id="rId7"/>
  </p:sldIdLst>
  <p:sldSz cx="12192000" cy="6858000"/>
  <p:notesSz cx="6858000" cy="9144000"/>
  <p:embeddedFontLst>
    <p:embeddedFont>
      <p:font typeface="CiscoSansTT ExtraLight" panose="020B0604020202020204" charset="0"/>
      <p:regular r:id="rId10"/>
      <p:italic r:id="rId11"/>
    </p:embeddedFont>
    <p:embeddedFont>
      <p:font typeface="CiscoSansTT Light" panose="020B0604020202020204" charset="0"/>
      <p:regular r:id="rId12"/>
      <p:italic r:id="rId13"/>
    </p:embeddedFont>
  </p:embeddedFontLst>
  <p:custDataLst>
    <p:tags r:id="rId14"/>
  </p:custDataLst>
  <p:defaultTextStyle>
    <a:defPPr>
      <a:defRPr lang="en-US"/>
    </a:defPPr>
    <a:lvl1pPr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9559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9119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8678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8238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3047797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3657357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4266915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4876475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B836DED-E1F4-1941-BCDE-E38455EFF521}">
          <p14:sldIdLst>
            <p14:sldId id="2147470791"/>
            <p14:sldId id="2147470731"/>
            <p14:sldId id="21474707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AC4F5C-28A8-C9E5-F3F8-523D24D0BDD9}" name="Oliver Tuszik (otuszik)" initials="O(" userId="S::otuszik@cisco.com::018275a1-b5b8-4c0f-ba53-7c06c8d13f3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tesh Gohil" initials="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181"/>
    <a:srgbClr val="0D27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9" autoAdjust="0"/>
    <p:restoredTop sz="95211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69" y="77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92"/>
    </p:cViewPr>
  </p:sorterViewPr>
  <p:notesViewPr>
    <p:cSldViewPr snapToGrid="0" snapToObjects="1" showGuides="1">
      <p:cViewPr varScale="1">
        <p:scale>
          <a:sx n="127" d="100"/>
          <a:sy n="127" d="100"/>
        </p:scale>
        <p:origin x="44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FE48B1C-1E6B-744F-8E6C-3836D33BC0D9}" type="datetimeFigureOut">
              <a:rPr lang="en-US"/>
              <a:pPr>
                <a:defRPr/>
              </a:pPr>
              <a:t>4/4/2025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5A8EAB7-F1BA-274C-91A9-46214A29E5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480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A637A29-4E7E-A24B-BAB1-D48C888F91E4}" type="datetimeFigureOut">
              <a:rPr lang="en-US"/>
              <a:pPr>
                <a:defRPr/>
              </a:pPr>
              <a:t>4/4/2025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97A1FA6-25DE-9E4E-A34D-CF67DE7DBD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49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609559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609559" algn="l" defTabSz="609559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219119" algn="l" defTabSz="609559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828678" algn="l" defTabSz="609559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438238" algn="l" defTabSz="609559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3047797" algn="l" defTabSz="609559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357" algn="l" defTabSz="609559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915" algn="l" defTabSz="609559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475" algn="l" defTabSz="609559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A1FA6-25DE-9E4E-A34D-CF67DE7DBDC7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49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A1FA6-25DE-9E4E-A34D-CF67DE7DBD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297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7CFDB-D119-2C50-27EE-F3168E9A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C30E4-0270-FFE5-E2CA-4A9370C15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DB48F-9B1B-1C7C-E9D3-153E0ED89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55458-8F4A-CA1B-EB54-2463B6578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A1FA6-25DE-9E4E-A34D-CF67DE7DBD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084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eft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014" y="2941508"/>
            <a:ext cx="10972800" cy="150420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400" b="0" i="0" spc="0" baseline="0">
                <a:solidFill>
                  <a:schemeClr val="accent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14" y="4533637"/>
            <a:ext cx="10972800" cy="398668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chemeClr val="accent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2014" y="5150448"/>
            <a:ext cx="10972800" cy="548640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C5A29C15-48D7-6644-9164-6F819B3D7D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431800"/>
            <a:ext cx="714359" cy="375341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014" y="5824731"/>
            <a:ext cx="10972800" cy="287338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73101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eft Sky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014" y="2941508"/>
            <a:ext cx="10972800" cy="150420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400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14" y="4533637"/>
            <a:ext cx="10972800" cy="398668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chemeClr val="bg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2014" y="5150448"/>
            <a:ext cx="10972800" cy="548640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C5A29C15-48D7-6644-9164-6F819B3D7D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431800"/>
            <a:ext cx="714359" cy="375341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014" y="5824731"/>
            <a:ext cx="10972800" cy="287338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34850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eft Photo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014" y="2941508"/>
            <a:ext cx="7223760" cy="150420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400" b="0" i="0" spc="0" baseline="0">
                <a:solidFill>
                  <a:schemeClr val="accent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14" y="4533637"/>
            <a:ext cx="7223760" cy="398668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chemeClr val="accent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2014" y="5150448"/>
            <a:ext cx="7223760" cy="548640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C5A29C15-48D7-6644-9164-6F819B3D7D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431800"/>
            <a:ext cx="714359" cy="375341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014" y="5824731"/>
            <a:ext cx="7223760" cy="287338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142FB2B-DAA9-0877-DC48-2611FC3FC4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86059" y="0"/>
            <a:ext cx="4005943" cy="68580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1200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7434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eft Photo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014" y="2941508"/>
            <a:ext cx="7223760" cy="150420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400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14" y="4533637"/>
            <a:ext cx="7223760" cy="398668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chemeClr val="bg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2014" y="5150448"/>
            <a:ext cx="7223760" cy="548640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C5A29C15-48D7-6644-9164-6F819B3D7D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431800"/>
            <a:ext cx="714359" cy="375341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014" y="5824731"/>
            <a:ext cx="7223760" cy="287338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142FB2B-DAA9-0877-DC48-2611FC3FC4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86059" y="0"/>
            <a:ext cx="4005943" cy="68580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0996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E683ED-333E-71AE-8D5B-04FB014DED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5930" y="2789671"/>
            <a:ext cx="10232136" cy="637377"/>
          </a:xfrm>
          <a:prstGeom prst="rect">
            <a:avLst/>
          </a:prstGeom>
        </p:spPr>
        <p:txBody>
          <a:bodyPr lIns="45720" tIns="45720" rIns="45720" bIns="45720" anchor="b"/>
          <a:lstStyle>
            <a:lvl1pPr marL="0" indent="0" algn="l">
              <a:lnSpc>
                <a:spcPts val="4800"/>
              </a:lnSpc>
              <a:buFont typeface="Arial" panose="020B0604020202020204" pitchFamily="34" charset="0"/>
              <a:buNone/>
              <a:defRPr sz="4400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Segue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1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D482-EDEF-0534-A336-804F44744A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1120" y="2772055"/>
            <a:ext cx="10241280" cy="640080"/>
          </a:xfrm>
          <a:prstGeom prst="rect">
            <a:avLst/>
          </a:prstGeom>
        </p:spPr>
        <p:txBody>
          <a:bodyPr lIns="45720" rIns="45720" anchor="ctr"/>
          <a:lstStyle>
            <a:lvl1pPr marL="0" indent="0" algn="r">
              <a:lnSpc>
                <a:spcPts val="4800"/>
              </a:lnSpc>
              <a:buFont typeface="Arial" panose="020B0604020202020204" pitchFamily="34" charset="0"/>
              <a:buNone/>
              <a:defRPr sz="4400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Transition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3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055E4C37-FAD6-B449-9189-A035C0C9E8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5658220"/>
            <a:ext cx="10972800" cy="465891"/>
          </a:xfrm>
          <a:prstGeom prst="rect">
            <a:avLst/>
          </a:prstGeom>
        </p:spPr>
        <p:txBody>
          <a:bodyPr lIns="45720" tIns="45710" rIns="45720" bIns="45710" anchor="t" anchorCtr="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2"/>
                </a:solidFill>
                <a:latin typeface="+mn-lt"/>
                <a:cs typeface="CiscoSansTT" panose="020B0503020201020303" pitchFamily="34" charset="0"/>
              </a:defRPr>
            </a:lvl1pPr>
            <a:lvl2pPr marL="4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role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EADEB85-EFB9-A048-BE6B-F1473C4999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233078"/>
            <a:ext cx="10972800" cy="398668"/>
          </a:xfrm>
          <a:prstGeom prst="rect">
            <a:avLst/>
          </a:prstGeom>
        </p:spPr>
        <p:txBody>
          <a:bodyPr lIns="45720" tIns="45710" rIns="45720" bIns="4571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Speaker name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6E3EA5B-6C70-8F4D-9385-EC53B25066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9521" y="1398874"/>
            <a:ext cx="10376024" cy="3311089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4800"/>
              </a:lnSpc>
              <a:buFont typeface="Arial" panose="020B0604020202020204" pitchFamily="34" charset="0"/>
              <a:buNone/>
              <a:defRPr sz="4000" b="0" i="0" spc="0" baseline="0">
                <a:solidFill>
                  <a:schemeClr val="bg2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As the adoption of multi-cloud strategy grows, Ulla </a:t>
            </a:r>
            <a:r>
              <a:rPr lang="en-GB" dirty="0" err="1"/>
              <a:t>sitiora</a:t>
            </a:r>
            <a:r>
              <a:rPr lang="en-GB" dirty="0"/>
              <a:t> </a:t>
            </a:r>
            <a:r>
              <a:rPr lang="en-GB" dirty="0" err="1"/>
              <a:t>turest</a:t>
            </a:r>
            <a:r>
              <a:rPr lang="en-GB" dirty="0"/>
              <a:t> </a:t>
            </a:r>
            <a:r>
              <a:rPr lang="en-GB" dirty="0" err="1"/>
              <a:t>experibus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pa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conestia</a:t>
            </a:r>
            <a:r>
              <a:rPr lang="en-GB" dirty="0"/>
              <a:t> vent </a:t>
            </a:r>
            <a:r>
              <a:rPr lang="en-GB" dirty="0" err="1"/>
              <a:t>eosse</a:t>
            </a:r>
            <a:r>
              <a:rPr lang="en-GB" dirty="0"/>
              <a:t> non </a:t>
            </a:r>
            <a:r>
              <a:rPr lang="en-GB" dirty="0" err="1"/>
              <a:t>consequ</a:t>
            </a:r>
            <a:r>
              <a:rPr lang="en-GB" dirty="0"/>
              <a:t> </a:t>
            </a:r>
            <a:r>
              <a:rPr lang="en-GB" dirty="0" err="1"/>
              <a:t>aturit</a:t>
            </a:r>
            <a:r>
              <a:rPr lang="en-GB" dirty="0"/>
              <a:t> </a:t>
            </a:r>
            <a:r>
              <a:rPr lang="en-GB" dirty="0" err="1"/>
              <a:t>faccum</a:t>
            </a:r>
            <a:r>
              <a:rPr lang="en-GB" dirty="0"/>
              <a:t> qui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num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18B2BC-5B8F-6442-A3B3-AB5D063112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1976" y="733891"/>
            <a:ext cx="1508048" cy="83639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91B82D-853E-F074-193C-5B7F13F89D29}"/>
              </a:ext>
            </a:extLst>
          </p:cNvPr>
          <p:cNvCxnSpPr>
            <a:cxnSpLocks/>
          </p:cNvCxnSpPr>
          <p:nvPr userDrawn="1"/>
        </p:nvCxnSpPr>
        <p:spPr>
          <a:xfrm>
            <a:off x="4545877" y="4934857"/>
            <a:ext cx="310025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61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20C842-0F32-695C-C13C-22709486A2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1966" y="1549400"/>
            <a:ext cx="5166360" cy="660401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3200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68D6516-732F-28D1-A6A6-F2DE6AD69B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64" y="2565400"/>
            <a:ext cx="5166360" cy="274320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666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5059BF6-2F19-7F49-9CBE-82197BDDFC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0937" y="2382519"/>
            <a:ext cx="5169260" cy="36576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8B70A03-DFE5-BAFE-E792-E9F9971D5D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1965" y="2382520"/>
            <a:ext cx="5169260" cy="36576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8DA8E-89D4-2754-2F23-8BC1A882CC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3679" y="2932588"/>
            <a:ext cx="5166360" cy="14630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AC6832F-2D70-B8EC-0B06-A53E0213069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99977" y="2932588"/>
            <a:ext cx="5166360" cy="14630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A1A354-0871-A2E1-F013-7080A6D3E5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1966" y="1549400"/>
            <a:ext cx="5166360" cy="660401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8EA024-D9FE-B723-2F3F-890E3F4517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7661" y="1551433"/>
            <a:ext cx="5165819" cy="658368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82608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7A1D91-B0C5-82DE-7D46-53E481769C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66" y="2382520"/>
            <a:ext cx="3489235" cy="36576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5F39481-2908-3822-701D-5FF87E1F03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3165" y="2382520"/>
            <a:ext cx="3489235" cy="36576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BD0ABDF-0D5E-A765-9F69-3BC9541847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62645" y="2382520"/>
            <a:ext cx="3489235" cy="36576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EB9F6D8-47DF-1F5B-55DF-071309C37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62644" y="1549400"/>
            <a:ext cx="3489236" cy="660402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1B9F0F59-8C07-4391-070A-F127239E5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3165" y="1549400"/>
            <a:ext cx="3489762" cy="660402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0CFD439-E346-0E67-C9C2-132C9C4EAD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66" y="2932240"/>
            <a:ext cx="3489235" cy="182880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CB3C8-42AF-C48C-331D-14C6776D22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93165" y="2932240"/>
            <a:ext cx="3489235" cy="182880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5EC4FE-BFD0-FE57-EEA5-41CE445414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2645" y="2932240"/>
            <a:ext cx="3489235" cy="182880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EF17F4-A551-A381-6DF1-CED9B14FF8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1966" y="1549400"/>
            <a:ext cx="3493008" cy="660401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18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 Ico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02DD01B-53E6-C542-A933-2D42DD0D2C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2127" y="1252071"/>
            <a:ext cx="1024772" cy="95772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1200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7EBF19C-49E3-D24F-8832-1A12184F66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79" y="3668309"/>
            <a:ext cx="5166360" cy="14630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3148D23F-4FB0-0283-D700-8A06DCABC2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621" y="2763200"/>
            <a:ext cx="5166360" cy="658368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5C6BDEC-E33F-4C34-5403-6A238AB80D5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99978" y="1252071"/>
            <a:ext cx="1024772" cy="95772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1200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36F578-A3CF-9005-0901-E724D7D522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99977" y="3668309"/>
            <a:ext cx="5166360" cy="14630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FE46B3-A8B5-C645-B495-DA6D531805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758" y="2763200"/>
            <a:ext cx="5166360" cy="658368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41276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6CA1346-1D62-4F41-BA11-B3EEBA6B51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40226" y="2763200"/>
            <a:ext cx="3511549" cy="665802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3E5B521-5917-164E-BF18-105160A01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6847" y="2763200"/>
            <a:ext cx="3511549" cy="665802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143D29F-44CB-0E44-8852-5377E5E8F51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59394" y="1252071"/>
            <a:ext cx="1024772" cy="95772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1200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02DD01B-53E6-C542-A933-2D42DD0D2C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2127" y="1252071"/>
            <a:ext cx="1024772" cy="95772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1200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EE6224FA-C881-7942-88CA-85C557540C4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086661" y="1252071"/>
            <a:ext cx="1024772" cy="95772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1200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6A53209-57D8-0C80-F7FB-B1A028923F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2125" y="3675743"/>
            <a:ext cx="3489235" cy="164592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29FA-854C-9FDB-35AE-257C4F46B33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50253" y="3675743"/>
            <a:ext cx="3489235" cy="164592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6DDF84-07E1-9F30-2A61-508622F128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02968" y="3675743"/>
            <a:ext cx="3489235" cy="164592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F16851C-FF16-C8FD-C1A2-97DC62B0B3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1759" y="2755766"/>
            <a:ext cx="3493008" cy="665802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70811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467AAB6B-16FE-95C2-6E58-2E5FC7150A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384079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508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 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C30067D-BDB2-4ED3-9FF2-9A7F7110FF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928" y="392612"/>
            <a:ext cx="5486400" cy="30480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A362478-34D6-842A-DADB-69D0E6949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722735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79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584BCD8-4E60-DFC8-29A4-3BFD44FDB3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384079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D7487D1-1623-CCE2-CEFB-F5648D1A43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599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 2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 descr="Section title">
            <a:extLst>
              <a:ext uri="{FF2B5EF4-FFF2-40B4-BE49-F238E27FC236}">
                <a16:creationId xmlns:a16="http://schemas.microsoft.com/office/drawing/2014/main" id="{0B8FE018-3611-D52D-6AC1-37B5B6BECD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928" y="392612"/>
            <a:ext cx="5486400" cy="30480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F119481-ACDD-57F7-7858-66E3120A9D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722735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C97880-0676-CEF3-919A-02D28F226A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" y="1619250"/>
            <a:ext cx="5211763" cy="4514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7691CA3-8502-339A-3BA5-6244A8389D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71699" y="1619250"/>
            <a:ext cx="5211763" cy="4514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0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Midnigh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28A24FB-C90E-8608-90DD-14467743B5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64" y="2565400"/>
            <a:ext cx="4572000" cy="274320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6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6A67E-A1D7-9527-29EB-EF2FEEA57D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126" y="431800"/>
            <a:ext cx="4572000" cy="30480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1400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58130C6-64C1-4324-51CC-4C096C992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1582396"/>
            <a:ext cx="4594524" cy="634577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2F0AA0-CB4C-C376-BF6B-F619D58C2EDA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42755" y="6373473"/>
            <a:ext cx="4534733" cy="175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1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0" i="0" spc="2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2025  Cisco and/or its affiliates. All rights reserved. 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349224E9-7A7E-D524-D6FC-823D1F76BF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6342698"/>
            <a:ext cx="396305" cy="2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9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 userDrawn="1">
          <p15:clr>
            <a:srgbClr val="FBAE40"/>
          </p15:clr>
        </p15:guide>
        <p15:guide id="2" pos="19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Midnight 1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330DC-D569-243E-8D0F-B65621C3C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2389491"/>
            <a:ext cx="4594524" cy="166878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19932B-5688-A7E6-8F8B-8FF2B626DC5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42755" y="6373473"/>
            <a:ext cx="4534733" cy="175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1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0" i="0" spc="2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2025  Cisco and/or its affiliates. All rights reserved. 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FC8FE25B-796C-931F-B0C7-31032DFC7A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6342698"/>
            <a:ext cx="396305" cy="2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6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 userDrawn="1">
          <p15:clr>
            <a:srgbClr val="FBAE40"/>
          </p15:clr>
        </p15:guide>
        <p15:guide id="2" pos="19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Midnigh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336399-B83B-D450-D7E9-D04E0D0AE3D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7D05B-CC63-FBAA-768B-D092C4B24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2910" y="736600"/>
            <a:ext cx="4842181" cy="5384799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356B89E-D2D7-929C-273F-CBC73FF73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2389491"/>
            <a:ext cx="4594524" cy="166878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E30C35-2977-189E-1C7E-5670AFBDE958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42755" y="6373473"/>
            <a:ext cx="4534733" cy="175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1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0" i="0" spc="2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2025  Cisco and/or its affiliates. All rights reserved. 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ED4B3F8C-B0B6-7D4A-AA05-8768F55D65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6342698"/>
            <a:ext cx="396305" cy="2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7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 userDrawn="1">
          <p15:clr>
            <a:srgbClr val="FBAE40"/>
          </p15:clr>
        </p15:guide>
        <p15:guide id="2" pos="19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Midnigh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85D6C4-923D-0A37-5765-F4FFA48FC1C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3E190-93EE-235A-0F6B-07C04E09A1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20840" y="746203"/>
            <a:ext cx="4846320" cy="365760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18BC08B-D219-8756-C142-C4584D727A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20840" y="2605600"/>
            <a:ext cx="4846320" cy="365760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4803960-9A60-1EDC-E465-98985D436C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20840" y="4464997"/>
            <a:ext cx="4846320" cy="365760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F220C6C-65CC-3070-48A3-52BC6CD232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0840" y="1246523"/>
            <a:ext cx="4846320" cy="109728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95A9DA7-0C91-35C3-D416-9F03042634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20840" y="3105920"/>
            <a:ext cx="4846320" cy="109728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6DF162A-E518-4D2F-E1D4-46E7A06FEE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20840" y="4965316"/>
            <a:ext cx="4846320" cy="109728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4DE6FCA-9477-3080-6D9A-BF19D90882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126" y="431800"/>
            <a:ext cx="4572000" cy="30480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1400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3EA95E83-5C21-97F4-1503-23FF4926A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2389491"/>
            <a:ext cx="4594524" cy="166878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C9D73C-A0B4-4B22-C1AA-A18C9341A3E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42755" y="6373473"/>
            <a:ext cx="4534733" cy="175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1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0" i="0" spc="2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2025  Cisco and/or its affiliates. All rights reserved. 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9651AA5B-1965-D591-60B8-56A6ACA0C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6342698"/>
            <a:ext cx="396305" cy="2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2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 userDrawn="1">
          <p15:clr>
            <a:srgbClr val="FBAE40"/>
          </p15:clr>
        </p15:guide>
        <p15:guide id="2" pos="192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hoto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5" y="431802"/>
            <a:ext cx="5405967" cy="5201356"/>
          </a:xfrm>
          <a:prstGeom prst="rect">
            <a:avLst/>
          </a:prstGeom>
          <a:solidFill>
            <a:schemeClr val="bg2">
              <a:alpha val="1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786035" y="5893686"/>
            <a:ext cx="4745567" cy="36576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662FEFF-3E75-8C00-6245-672DD6C1DD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126" y="431800"/>
            <a:ext cx="4572000" cy="30480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1400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EB68504-08D0-FA7F-F0B3-182F7E2A3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2389491"/>
            <a:ext cx="4594524" cy="166878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436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pos="427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C94DA5F-CCF7-A048-8A5D-EE8276E901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3" y="431800"/>
            <a:ext cx="6096000" cy="6045200"/>
          </a:xfrm>
          <a:prstGeom prst="rect">
            <a:avLst/>
          </a:prstGeom>
          <a:solidFill>
            <a:schemeClr val="bg2">
              <a:alpha val="1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8ED364C-BAF2-9F2F-E224-E59C48A7EF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126" y="431800"/>
            <a:ext cx="4572000" cy="30480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1400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93CE8B-2A39-4C51-DEFC-338F8C1A9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2389491"/>
            <a:ext cx="4594524" cy="166878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541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56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F1594EA-D397-6C41-A885-CC4BB73C61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4324904"/>
          </a:xfrm>
          <a:prstGeom prst="rect">
            <a:avLst/>
          </a:prstGeom>
          <a:solidFill>
            <a:schemeClr val="bg2">
              <a:alpha val="1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1800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D6B94F4-618A-F016-8EBA-95840E9A8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333956"/>
            <a:ext cx="10972800" cy="1828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72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5C13F8A-9C96-BC4F-A27C-6AF68C9B9A8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5992432"/>
          </a:xfrm>
          <a:prstGeom prst="rect">
            <a:avLst/>
          </a:prstGeom>
          <a:solidFill>
            <a:schemeClr val="bg2">
              <a:alpha val="1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1800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2893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45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5" y="431803"/>
            <a:ext cx="4796367" cy="5702297"/>
          </a:xfrm>
          <a:prstGeom prst="rect">
            <a:avLst/>
          </a:prstGeom>
          <a:solidFill>
            <a:schemeClr val="bg2">
              <a:alpha val="1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CA122E-84F3-46AD-9E51-F9AF1BE6D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126" y="431800"/>
            <a:ext cx="4572000" cy="30480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1400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52B211B-517D-A64F-A54C-62D02B79A0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2389491"/>
            <a:ext cx="4594524" cy="166878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407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56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11">
            <a:extLst>
              <a:ext uri="{FF2B5EF4-FFF2-40B4-BE49-F238E27FC236}">
                <a16:creationId xmlns:a16="http://schemas.microsoft.com/office/drawing/2014/main" id="{C83B223E-030E-74D0-B6FA-BEC3DA7BD3F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1102" y="1409700"/>
            <a:ext cx="10974395" cy="3932321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Click icon to add table</a:t>
            </a:r>
            <a:endParaRPr lang="en-GB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9B8D9E7-EAC8-4A5C-4139-BA396711F0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25" y="5586423"/>
            <a:ext cx="5463875" cy="36576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Table caption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095535F-B15D-4674-AA8E-3E7F5789B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384079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610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8CE7DB6-039C-AC58-5C90-9B19A4AA26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25" y="5586423"/>
            <a:ext cx="5463875" cy="36576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 dirty="0"/>
              <a:t>Chart caption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BD75F8AD-CDF4-CE28-1C24-08F6FA9598D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32125" y="1409701"/>
            <a:ext cx="10960608" cy="3937002"/>
          </a:xfrm>
          <a:prstGeom prst="rect">
            <a:avLst/>
          </a:prstGeom>
        </p:spPr>
        <p:txBody>
          <a:bodyPr vert="horz" lIns="45720" tIns="45720" rIns="45720" bIns="4572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chart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C8E4F24-1DD2-9F21-154D-07CBBFFD69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384079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205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359DE9A3-61C3-FC60-7656-7ED635861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03850" y="3067050"/>
            <a:ext cx="13843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3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logo with black background&#10;&#10;Description automatically generated">
            <a:extLst>
              <a:ext uri="{FF2B5EF4-FFF2-40B4-BE49-F238E27FC236}">
                <a16:creationId xmlns:a16="http://schemas.microsoft.com/office/drawing/2014/main" id="{678234A1-C227-2D3F-7C69-8793397D52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03850" y="3067050"/>
            <a:ext cx="13843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3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3E5826-E261-5240-BCCC-F517FDB6EBB5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42755" y="6373473"/>
            <a:ext cx="4534733" cy="175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1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0" i="0" spc="2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2025  Cisco and/or its affiliates. All rights reserved. 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563804D0-1B5B-924C-8995-DA787F4942D5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609602" y="6342698"/>
            <a:ext cx="396305" cy="208228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384079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2" y="1409700"/>
            <a:ext cx="10972798" cy="472440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6707D-B83B-2CD9-460E-72E8B9F356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817225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cs typeface="Calibri" panose="020F0502020204030204" pitchFamily="34" charset="0"/>
              </a:rPr>
              <a:t>Cisco Confidential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148" r:id="rId1"/>
    <p:sldLayoutId id="2147484147" r:id="rId2"/>
    <p:sldLayoutId id="2147484151" r:id="rId3"/>
    <p:sldLayoutId id="2147484150" r:id="rId4"/>
    <p:sldLayoutId id="2147484201" r:id="rId5"/>
    <p:sldLayoutId id="2147484204" r:id="rId6"/>
    <p:sldLayoutId id="2147484089" r:id="rId7"/>
    <p:sldLayoutId id="2147484159" r:id="rId8"/>
    <p:sldLayoutId id="2147484207" r:id="rId9"/>
    <p:sldLayoutId id="2147484209" r:id="rId10"/>
    <p:sldLayoutId id="2147484099" r:id="rId11"/>
    <p:sldLayoutId id="2147484211" r:id="rId12"/>
    <p:sldLayoutId id="2147484161" r:id="rId13"/>
    <p:sldLayoutId id="2147484102" r:id="rId14"/>
    <p:sldLayoutId id="2147484166" r:id="rId15"/>
    <p:sldLayoutId id="2147484181" r:id="rId16"/>
    <p:sldLayoutId id="2147484125" r:id="rId17"/>
    <p:sldLayoutId id="2147484117" r:id="rId18"/>
    <p:sldLayoutId id="2147484145" r:id="rId19"/>
    <p:sldLayoutId id="2147484118" r:id="rId20"/>
    <p:sldLayoutId id="2147484130" r:id="rId21"/>
    <p:sldLayoutId id="2147484131" r:id="rId22"/>
    <p:sldLayoutId id="2147484127" r:id="rId23"/>
    <p:sldLayoutId id="2147484128" r:id="rId24"/>
    <p:sldLayoutId id="2147484120" r:id="rId25"/>
    <p:sldLayoutId id="2147484133" r:id="rId26"/>
    <p:sldLayoutId id="2147484108" r:id="rId27"/>
    <p:sldLayoutId id="2147484110" r:id="rId28"/>
    <p:sldLayoutId id="2147484136" r:id="rId29"/>
    <p:sldLayoutId id="2147484075" r:id="rId3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600" b="0" i="0" u="none" kern="1200" dirty="0">
          <a:solidFill>
            <a:schemeClr val="accent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82" indent="-226482" algn="l" defTabSz="912276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accent1"/>
        </a:buClr>
        <a:buSzPct val="90000"/>
        <a:buFont typeface="Arial" charset="0"/>
        <a:buChar char="•"/>
        <a:defRPr lang="en-US" sz="24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1pPr>
      <a:lvl2pPr marL="457200" indent="-227013" algn="l" defTabSz="912276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1"/>
        </a:buClr>
        <a:buFont typeface="Arial" charset="0"/>
        <a:buChar char="•"/>
        <a:defRPr lang="en-US" sz="20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2pPr>
      <a:lvl3pPr marL="569913" indent="-230188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Clr>
          <a:schemeClr val="accent1"/>
        </a:buClr>
        <a:buFont typeface="Arial" charset="0"/>
        <a:buChar char="•"/>
        <a:defRPr lang="en-US" sz="18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3pPr>
      <a:lvl4pPr marL="687388" indent="-230188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Clr>
          <a:schemeClr val="accent1"/>
        </a:buClr>
        <a:buFont typeface="Arial" charset="0"/>
        <a:buChar char="•"/>
        <a:defRPr lang="en-US" sz="16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4pPr>
      <a:lvl5pPr marL="801688" indent="-231775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Clr>
          <a:schemeClr val="accent1"/>
        </a:buClr>
        <a:buFont typeface="Arial" charset="0"/>
        <a:buChar char="•"/>
        <a:defRPr lang="en-US" sz="14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6" pos="3835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240" userDrawn="1">
          <p15:clr>
            <a:srgbClr val="F26B43"/>
          </p15:clr>
        </p15:guide>
        <p15:guide id="11" orient="horz" pos="2160" userDrawn="1">
          <p15:clr>
            <a:srgbClr val="F26B43"/>
          </p15:clr>
        </p15:guide>
        <p15:guide id="12" orient="horz" pos="672" userDrawn="1">
          <p15:clr>
            <a:srgbClr val="F26B43"/>
          </p15:clr>
        </p15:guide>
        <p15:guide id="13" orient="horz" pos="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7369-2876-92F8-FD8E-FD9A7B5F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75729"/>
            <a:ext cx="10972800" cy="685800"/>
          </a:xfrm>
        </p:spPr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FFDB3-5B2A-A612-E8BE-C29E0503C4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4" y="915583"/>
            <a:ext cx="10972798" cy="1509565"/>
          </a:xfrm>
        </p:spPr>
        <p:txBody>
          <a:bodyPr/>
          <a:lstStyle/>
          <a:p>
            <a:r>
              <a:rPr lang="en-US" sz="2000" dirty="0"/>
              <a:t>All the teams are requested to explain their forecast approach &amp; method briefly only in the next 2 slides.</a:t>
            </a:r>
          </a:p>
          <a:p>
            <a:r>
              <a:rPr lang="en-US" sz="2000" dirty="0"/>
              <a:t>Teams going to finals will get a chance develop their slides with more detail.</a:t>
            </a:r>
          </a:p>
          <a:p>
            <a:r>
              <a:rPr lang="en-US" sz="2000" dirty="0"/>
              <a:t>Please don’t change the format.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endParaRPr lang="en-US" sz="3600" dirty="0">
              <a:solidFill>
                <a:schemeClr val="accent1"/>
              </a:solidFill>
              <a:latin typeface="+mj-lt"/>
              <a:cs typeface="CiscoSansTT Thin" charset="0"/>
            </a:endParaRP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3600" dirty="0">
                <a:solidFill>
                  <a:schemeClr val="accent1"/>
                </a:solidFill>
                <a:latin typeface="+mj-lt"/>
                <a:cs typeface="CiscoSansTT Thin" charset="0"/>
              </a:rPr>
              <a:t>Team Introduction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endParaRPr lang="en-US" sz="3600" dirty="0">
              <a:solidFill>
                <a:schemeClr val="accent1"/>
              </a:solidFill>
              <a:latin typeface="+mj-lt"/>
              <a:cs typeface="CiscoSansTT Thin" charset="0"/>
            </a:endParaRP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3600" dirty="0">
                <a:solidFill>
                  <a:schemeClr val="accent1"/>
                </a:solidFill>
                <a:latin typeface="+mj-lt"/>
                <a:cs typeface="CiscoSansTT Thin" charset="0"/>
              </a:rPr>
              <a:t>Team name : Einheit Engineers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58638-A70B-1B57-F50D-896D27BD09CF}"/>
              </a:ext>
            </a:extLst>
          </p:cNvPr>
          <p:cNvCxnSpPr/>
          <p:nvPr/>
        </p:nvCxnSpPr>
        <p:spPr>
          <a:xfrm>
            <a:off x="96552" y="2646648"/>
            <a:ext cx="120007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39F23C9-8552-CCAA-0924-F10B0B6BC7A9}"/>
              </a:ext>
            </a:extLst>
          </p:cNvPr>
          <p:cNvSpPr txBox="1"/>
          <p:nvPr/>
        </p:nvSpPr>
        <p:spPr>
          <a:xfrm>
            <a:off x="727589" y="4310267"/>
            <a:ext cx="107368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solidFill>
                  <a:schemeClr val="bg2"/>
                </a:solidFill>
                <a:latin typeface="+mn-lt"/>
              </a:rPr>
              <a:t>Veeresh Amaragatti   PES1UG23CS847</a:t>
            </a:r>
          </a:p>
          <a:p>
            <a:pPr algn="l"/>
            <a:r>
              <a:rPr lang="en-IN" dirty="0">
                <a:solidFill>
                  <a:schemeClr val="bg2"/>
                </a:solidFill>
                <a:latin typeface="+mn-lt"/>
              </a:rPr>
              <a:t>Srinidhi S		       PES1UG23CS830</a:t>
            </a:r>
          </a:p>
          <a:p>
            <a:pPr algn="l"/>
            <a:r>
              <a:rPr lang="en-IN" dirty="0">
                <a:solidFill>
                  <a:schemeClr val="bg2"/>
                </a:solidFill>
                <a:latin typeface="+mn-lt"/>
              </a:rPr>
              <a:t>Suhas G		       PES1UG23CS831</a:t>
            </a:r>
          </a:p>
        </p:txBody>
      </p:sp>
    </p:spTree>
    <p:extLst>
      <p:ext uri="{BB962C8B-B14F-4D97-AF65-F5344CB8AC3E}">
        <p14:creationId xmlns:p14="http://schemas.microsoft.com/office/powerpoint/2010/main" val="313671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7B5F33-838E-F182-0D97-9950A9041432}"/>
              </a:ext>
            </a:extLst>
          </p:cNvPr>
          <p:cNvCxnSpPr>
            <a:cxnSpLocks/>
          </p:cNvCxnSpPr>
          <p:nvPr/>
        </p:nvCxnSpPr>
        <p:spPr>
          <a:xfrm>
            <a:off x="6290997" y="170385"/>
            <a:ext cx="0" cy="6542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26B968-5376-C68F-8115-F7745A9BCF76}"/>
              </a:ext>
            </a:extLst>
          </p:cNvPr>
          <p:cNvSpPr txBox="1"/>
          <p:nvPr/>
        </p:nvSpPr>
        <p:spPr>
          <a:xfrm>
            <a:off x="388100" y="396480"/>
            <a:ext cx="4219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2"/>
                </a:solidFill>
                <a:latin typeface="+mn-lt"/>
              </a:rPr>
              <a:t>			</a:t>
            </a:r>
            <a:r>
              <a:rPr lang="en-US" sz="1400" dirty="0">
                <a:solidFill>
                  <a:schemeClr val="accent1"/>
                </a:solidFill>
                <a:latin typeface="+mj-lt"/>
                <a:cs typeface="CiscoSansTT Thin" charset="0"/>
              </a:rPr>
              <a:t>Preliminary Data Analysis</a:t>
            </a:r>
            <a:endParaRPr lang="en-IN" sz="1400" dirty="0">
              <a:solidFill>
                <a:schemeClr val="accent1"/>
              </a:solidFill>
              <a:latin typeface="+mj-lt"/>
              <a:cs typeface="CiscoSansTT Thin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0CD48D-CD67-61E8-9EB2-8F8F41B3D8BF}"/>
              </a:ext>
            </a:extLst>
          </p:cNvPr>
          <p:cNvSpPr txBox="1"/>
          <p:nvPr/>
        </p:nvSpPr>
        <p:spPr>
          <a:xfrm>
            <a:off x="8747382" y="396481"/>
            <a:ext cx="4219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accent1"/>
                </a:solidFill>
                <a:latin typeface="+mj-lt"/>
                <a:cs typeface="CiscoSansTT Thin" charset="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162CA3-C073-B2B2-0E69-E205C0DDD9B5}"/>
              </a:ext>
            </a:extLst>
          </p:cNvPr>
          <p:cNvSpPr txBox="1"/>
          <p:nvPr/>
        </p:nvSpPr>
        <p:spPr>
          <a:xfrm>
            <a:off x="648929" y="1317522"/>
            <a:ext cx="515210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 exploratory data analysis on quarterly sales data to understand overall </a:t>
            </a:r>
            <a:r>
              <a:rPr lang="en-GB" sz="16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time series decomposition to extract components: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 (long-term direction),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 (recurring short-term cycle),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Residuals (random noise).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patterns using both additive and multiplicative models to suit varying product </a:t>
            </a:r>
            <a:r>
              <a:rPr lang="en-GB" sz="16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behaviors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data quality with bias and accuracy checks to ensure reliability of forecasts.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reverse engineering based on given accuracy and bias to identify patterns and </a:t>
            </a:r>
            <a:r>
              <a:rPr lang="en-GB" sz="16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historical sales that can be used to enhance future prediction performance.</a:t>
            </a:r>
            <a:endParaRPr lang="en-IN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72538-E25B-E5DB-CF30-6D6FBC1CD789}"/>
              </a:ext>
            </a:extLst>
          </p:cNvPr>
          <p:cNvSpPr txBox="1"/>
          <p:nvPr/>
        </p:nvSpPr>
        <p:spPr>
          <a:xfrm>
            <a:off x="7079226" y="1238864"/>
            <a:ext cx="475881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multiple time series forecasting techniques: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ARIMA &amp; SARIMA for capturing linear trends and seasonality.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Holt-Winters Exponential Smoothing for smoothing short-term fluctuations.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(machine learning) for </a:t>
            </a:r>
            <a:r>
              <a:rPr lang="en-GB" sz="16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non-linear and complex patterns.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reverse engineering, we </a:t>
            </a:r>
            <a:r>
              <a:rPr lang="en-GB" sz="16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forecasted values to Identify which teams predicted which products accurately. Match each product to the best-performing forecasting model.</a:t>
            </a:r>
          </a:p>
        </p:txBody>
      </p:sp>
    </p:spTree>
    <p:extLst>
      <p:ext uri="{BB962C8B-B14F-4D97-AF65-F5344CB8AC3E}">
        <p14:creationId xmlns:p14="http://schemas.microsoft.com/office/powerpoint/2010/main" val="131826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34DA-025D-3547-568F-5A0A057B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47AA4C-6701-FE15-058D-B4C176D0CB91}"/>
              </a:ext>
            </a:extLst>
          </p:cNvPr>
          <p:cNvCxnSpPr>
            <a:cxnSpLocks/>
          </p:cNvCxnSpPr>
          <p:nvPr/>
        </p:nvCxnSpPr>
        <p:spPr>
          <a:xfrm>
            <a:off x="6262601" y="335091"/>
            <a:ext cx="0" cy="6378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A8ECE8-201D-403E-77C7-0F62D36F2FF7}"/>
              </a:ext>
            </a:extLst>
          </p:cNvPr>
          <p:cNvSpPr txBox="1"/>
          <p:nvPr/>
        </p:nvSpPr>
        <p:spPr>
          <a:xfrm>
            <a:off x="2353208" y="396481"/>
            <a:ext cx="4219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+mj-lt"/>
                <a:cs typeface="CiscoSansTT Thin" charset="0"/>
              </a:rPr>
              <a:t>Methodology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9A7826-0F1B-4DB3-7C23-E0E3CA5D468D}"/>
              </a:ext>
            </a:extLst>
          </p:cNvPr>
          <p:cNvSpPr txBox="1"/>
          <p:nvPr/>
        </p:nvSpPr>
        <p:spPr>
          <a:xfrm>
            <a:off x="8236227" y="396481"/>
            <a:ext cx="4219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  <a:latin typeface="+mj-lt"/>
                <a:cs typeface="CiscoSansTT Thin" charset="0"/>
              </a:rPr>
              <a:t>Conclusion &amp;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A9745-17B8-6687-3487-04C1056DF377}"/>
              </a:ext>
            </a:extLst>
          </p:cNvPr>
          <p:cNvSpPr txBox="1"/>
          <p:nvPr/>
        </p:nvSpPr>
        <p:spPr>
          <a:xfrm>
            <a:off x="757084" y="1238865"/>
            <a:ext cx="47981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the first 11 quarters of sales data to forecast the 12th quarter, then validated against the actual 12th quarter values.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multiple models and collected team predictions for the 12th quarter to: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and </a:t>
            </a:r>
            <a:r>
              <a:rPr lang="en-GB" sz="16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which teams and models predicted most accurately.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reverse engineering to trace back from actual data and identify patterns behind accurate predictions.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 logic to map each product to its most suitable model and team, based on prediction consistency and alignment with actuals.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hybrid multimodal forecasting system combining statistical and machine learning approaches for enhanced accuracy.</a:t>
            </a:r>
            <a:endParaRPr lang="en-IN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A60A2-7CA1-3F13-2E8D-BB15EAAC2B10}"/>
              </a:ext>
            </a:extLst>
          </p:cNvPr>
          <p:cNvSpPr txBox="1"/>
          <p:nvPr/>
        </p:nvSpPr>
        <p:spPr>
          <a:xfrm>
            <a:off x="6921910" y="1238865"/>
            <a:ext cx="468998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identified that some products had strong seasonality, while others showed complex or irregular trends.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handle this diversity, we applied different models for different patterns, along with analysis of team performance over the last three quarters.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evaluating which teams consistently gave accurate predictions in previous quarters, we were able to match the right model with the right team.</a:t>
            </a:r>
          </a:p>
          <a:p>
            <a:pPr algn="l"/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outcome: </a:t>
            </a:r>
            <a:r>
              <a:rPr lang="en-GB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multimodal hybrid forecasting approach that dynamically adapts to both the nature of the data and the predictive strength of teams/models — improving accuracy and reliability across the board.</a:t>
            </a:r>
            <a:endParaRPr lang="en-IN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53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SECTOMILLISECCONVERTED" val="1"/>
  <p:tag name="MMPROD_UIDATA" val="&lt;database version=&quot;11.0&quot;&gt;&lt;object type=&quot;1&quot; unique_id=&quot;10001&quot;&gt;&lt;object type=&quot;2&quot; unique_id=&quot;10002&quot;&gt;&lt;object type=&quot;3&quot; unique_id=&quot;184152&quot;&gt;&lt;property id=&quot;20148&quot; value=&quot;5&quot;/&gt;&lt;property id=&quot;20300&quot; value=&quot;Slide 1 - &amp;quot;Please read&amp;quot;&quot;/&gt;&lt;property id=&quot;20307&quot; value=&quot;283&quot;/&gt;&lt;/object&gt;&lt;object type=&quot;3&quot; unique_id=&quot;184153&quot;&gt;&lt;property id=&quot;20148&quot; value=&quot;5&quot;/&gt;&lt;property id=&quot;20300&quot; value=&quot;Slide 5 - &amp;quot;Presentation Title Goes Here&amp;quot;&quot;/&gt;&lt;property id=&quot;20307&quot; value=&quot;257&quot;/&gt;&lt;/object&gt;&lt;object type=&quot;3&quot; unique_id=&quot;184154&quot;&gt;&lt;property id=&quot;20148&quot; value=&quot;5&quot;/&gt;&lt;property id=&quot;20300&quot; value=&quot;Slide 6 - &amp;quot;Use this slide for transitions&amp;quot;&quot;/&gt;&lt;property id=&quot;20307&quot; value=&quot;258&quot;/&gt;&lt;/object&gt;&lt;object type=&quot;3&quot; unique_id=&quot;184155&quot;&gt;&lt;property id=&quot;20148&quot; value=&quot;5&quot;/&gt;&lt;property id=&quot;20300&quot; value=&quot;Slide 7 - &amp;quot;Use this slide for transitions&amp;quot;&quot;/&gt;&lt;property id=&quot;20307&quot; value=&quot;259&quot;/&gt;&lt;/object&gt;&lt;object type=&quot;3&quot; unique_id=&quot;184156&quot;&gt;&lt;property id=&quot;20148&quot; value=&quot;5&quot;/&gt;&lt;property id=&quot;20300&quot; value=&quot;Slide 8 - &amp;quot;“Design is the silent  ambassador of your brand.”&amp;quot;&quot;/&gt;&lt;property id=&quot;20307&quot; value=&quot;260&quot;/&gt;&lt;/object&gt;&lt;object type=&quot;3&quot; unique_id=&quot;184157&quot;&gt;&lt;property id=&quot;20148&quot; value=&quot;5&quot;/&gt;&lt;property id=&quot;20300&quot; value=&quot;Slide 9 - &amp;quot;“Design is the silent  ambassador of your brand.”&amp;quot;&quot;/&gt;&lt;property id=&quot;20307&quot; value=&quot;261&quot;/&gt;&lt;/object&gt;&lt;object type=&quot;3&quot; unique_id=&quot;184158&quot;&gt;&lt;property id=&quot;20148&quot; value=&quot;5&quot;/&gt;&lt;property id=&quot;20300&quot; value=&quot;Slide 10 - &amp;quot;This is a sample headline&amp;quot;&quot;/&gt;&lt;property id=&quot;20307&quot; value=&quot;262&quot;/&gt;&lt;/object&gt;&lt;object type=&quot;3&quot; unique_id=&quot;184159&quot;&gt;&lt;property id=&quot;20148&quot; value=&quot;5&quot;/&gt;&lt;property id=&quot;20300&quot; value=&quot;Slide 11 - &amp;quot;This is a sample headline&amp;quot;&quot;/&gt;&lt;property id=&quot;20307&quot; value=&quot;263&quot;/&gt;&lt;/object&gt;&lt;object type=&quot;3&quot; unique_id=&quot;184160&quot;&gt;&lt;property id=&quot;20148&quot; value=&quot;5&quot;/&gt;&lt;property id=&quot;20300&quot; value=&quot;Slide 12 - &amp;quot;This is a sample headline&amp;quot;&quot;/&gt;&lt;property id=&quot;20307&quot; value=&quot;264&quot;/&gt;&lt;/object&gt;&lt;object type=&quot;3&quot; unique_id=&quot;184161&quot;&gt;&lt;property id=&quot;20148&quot; value=&quot;5&quot;/&gt;&lt;property id=&quot;20300&quot; value=&quot;Slide 13 - &amp;quot;Two-column layout&amp;quot;&quot;/&gt;&lt;property id=&quot;20307&quot; value=&quot;265&quot;/&gt;&lt;/object&gt;&lt;object type=&quot;3&quot; unique_id=&quot;184162&quot;&gt;&lt;property id=&quot;20148&quot; value=&quot;5&quot;/&gt;&lt;property id=&quot;20300&quot; value=&quot;Slide 14 - &amp;quot;This is a sample headline&amp;quot;&quot;/&gt;&lt;property id=&quot;20307&quot; value=&quot;266&quot;/&gt;&lt;/object&gt;&lt;object type=&quot;3&quot; unique_id=&quot;184163&quot;&gt;&lt;property id=&quot;20148&quot; value=&quot;5&quot;/&gt;&lt;property id=&quot;20300&quot; value=&quot;Slide 15 - &amp;quot;This is a sample headline&amp;quot;&quot;/&gt;&lt;property id=&quot;20307&quot; value=&quot;267&quot;/&gt;&lt;/object&gt;&lt;object type=&quot;3&quot; unique_id=&quot;184164&quot;&gt;&lt;property id=&quot;20148&quot; value=&quot;5&quot;/&gt;&lt;property id=&quot;20300&quot; value=&quot;Slide 16 - &amp;quot;This is a sample headline&amp;quot;&quot;/&gt;&lt;property id=&quot;20307&quot; value=&quot;268&quot;/&gt;&lt;/object&gt;&lt;object type=&quot;3&quot; unique_id=&quot;184165&quot;&gt;&lt;property id=&quot;20148&quot; value=&quot;5&quot;/&gt;&lt;property id=&quot;20300&quot; value=&quot;Slide 17 - &amp;quot;Bar charts&amp;quot;&quot;/&gt;&lt;property id=&quot;20307&quot; value=&quot;269&quot;/&gt;&lt;/object&gt;&lt;object type=&quot;3&quot; unique_id=&quot;184166&quot;&gt;&lt;property id=&quot;20148&quot; value=&quot;5&quot;/&gt;&lt;property id=&quot;20300&quot; value=&quot;Slide 18 - &amp;quot;Line charts&amp;quot;&quot;/&gt;&lt;property id=&quot;20307&quot; value=&quot;270&quot;/&gt;&lt;/object&gt;&lt;object type=&quot;3&quot; unique_id=&quot;184167&quot;&gt;&lt;property id=&quot;20148&quot; value=&quot;5&quot;/&gt;&lt;property id=&quot;20300&quot; value=&quot;Slide 19 - &amp;quot;This is a sample headline&amp;quot;&quot;/&gt;&lt;property id=&quot;20307&quot; value=&quot;271&quot;/&gt;&lt;/object&gt;&lt;object type=&quot;3&quot; unique_id=&quot;184168&quot;&gt;&lt;property id=&quot;20148&quot; value=&quot;5&quot;/&gt;&lt;property id=&quot;20300&quot; value=&quot;Slide 20 - &amp;quot;Slide title&amp;quot;&quot;/&gt;&lt;property id=&quot;20307&quot; value=&quot;272&quot;/&gt;&lt;/object&gt;&lt;object type=&quot;3&quot; unique_id=&quot;184169&quot;&gt;&lt;property id=&quot;20148&quot; value=&quot;5&quot;/&gt;&lt;property id=&quot;20300&quot; value=&quot;Slide 21 - &amp;quot;Use this layout when pairing words with a picture.&amp;quot;&quot;/&gt;&lt;property id=&quot;20307&quot; value=&quot;273&quot;/&gt;&lt;/object&gt;&lt;object type=&quot;3&quot; unique_id=&quot;184170&quot;&gt;&lt;property id=&quot;20148&quot; value=&quot;5&quot;/&gt;&lt;property id=&quot;20300&quot; value=&quot;Slide 22 - &amp;quot;Use this layout when pairing words with a picture.&amp;quot;&quot;/&gt;&lt;property id=&quot;20307&quot; value=&quot;274&quot;/&gt;&lt;/object&gt;&lt;object type=&quot;3&quot; unique_id=&quot;184171&quot;&gt;&lt;property id=&quot;20148&quot; value=&quot;5&quot;/&gt;&lt;property id=&quot;20300&quot; value=&quot;Slide 23&quot;/&gt;&lt;property id=&quot;20307&quot; value=&quot;275&quot;/&gt;&lt;/object&gt;&lt;object type=&quot;3&quot; unique_id=&quot;184172&quot;&gt;&lt;property id=&quot;20148&quot; value=&quot;5&quot;/&gt;&lt;property id=&quot;20300&quot; value=&quot;Slide 24 - &amp;quot;Best practices&amp;quot;&quot;/&gt;&lt;property id=&quot;20307&quot; value=&quot;276&quot;/&gt;&lt;/object&gt;&lt;object type=&quot;3&quot; unique_id=&quot;184173&quot;&gt;&lt;property id=&quot;20148&quot; value=&quot;5&quot;/&gt;&lt;property id=&quot;20300&quot; value=&quot;Slide 25 - &amp;quot;Color palette&amp;quot;&quot;/&gt;&lt;property id=&quot;20307&quot; value=&quot;277&quot;/&gt;&lt;/object&gt;&lt;object type=&quot;3&quot; unique_id=&quot;184174&quot;&gt;&lt;property id=&quot;20148&quot; value=&quot;5&quot;/&gt;&lt;property id=&quot;20300&quot; value=&quot;Slide 26 - &amp;quot;Only use the themes provided&amp;quot;&quot;/&gt;&lt;property id=&quot;20307&quot; value=&quot;278&quot;/&gt;&lt;/object&gt;&lt;object type=&quot;3&quot; unique_id=&quot;184175&quot;&gt;&lt;property id=&quot;20148&quot; value=&quot;5&quot;/&gt;&lt;property id=&quot;20300&quot; value=&quot;Slide 26 - &amp;quot;Color themes&amp;quot;&quot;/&gt;&lt;property id=&quot;20307&quot; value=&quot;279&quot;/&gt;&lt;/object&gt;&lt;object type=&quot;3&quot; unique_id=&quot;184176&quot;&gt;&lt;property id=&quot;20148&quot; value=&quot;5&quot;/&gt;&lt;property id=&quot;20300&quot; value=&quot;Slide 27 - &amp;quot;Seven tips for better presentations&amp;quot;&quot;/&gt;&lt;property id=&quot;20307&quot; value=&quot;280&quot;/&gt;&lt;/object&gt;&lt;object type=&quot;3&quot; unique_id=&quot;184178&quot;&gt;&lt;property id=&quot;20148&quot; value=&quot;5&quot;/&gt;&lt;property id=&quot;20300&quot; value=&quot;Slide 28&quot;/&gt;&lt;property id=&quot;20307&quot; value=&quot;282&quot;/&gt;&lt;/object&gt;&lt;object type=&quot;3&quot; unique_id=&quot;198815&quot;&gt;&lt;property id=&quot;20148&quot; value=&quot;5&quot;/&gt;&lt;property id=&quot;20300&quot; value=&quot;Slide 2 - &amp;quot;Everyone is responsible for security&amp;quot;&quot;/&gt;&lt;property id=&quot;20307&quot; value=&quot;286&quot;/&gt;&lt;/object&gt;&lt;object type=&quot;3&quot; unique_id=&quot;198816&quot;&gt;&lt;property id=&quot;20148&quot; value=&quot;5&quot;/&gt;&lt;property id=&quot;20300&quot; value=&quot;Slide 3 - &amp;quot;Please read&amp;quot;&quot;/&gt;&lt;property id=&quot;20307&quot; value=&quot;287&quot;/&gt;&lt;/object&gt;&lt;object type=&quot;3&quot; unique_id=&quot;198998&quot;&gt;&lt;property id=&quot;20148&quot; value=&quot;5&quot;/&gt;&lt;property id=&quot;20300&quot; value=&quot;Slide 4 - &amp;quot;Color themes&amp;quot;&quot;/&gt;&lt;property id=&quot;20307&quot; value=&quot;288&quot;/&gt;&lt;/object&gt;&lt;/object&gt;&lt;object type=&quot;8&quot; unique_id=&quot;10268&quot;&gt;&lt;/object&gt;&lt;/object&gt;&lt;/database&gt;"/>
</p:tagLst>
</file>

<file path=ppt/theme/theme1.xml><?xml version="1.0" encoding="utf-8"?>
<a:theme xmlns:a="http://schemas.openxmlformats.org/drawingml/2006/main" name="2024 Cisco Template Master">
  <a:themeElements>
    <a:clrScheme name="Custom 1">
      <a:dk1>
        <a:srgbClr val="0D274D"/>
      </a:dk1>
      <a:lt1>
        <a:srgbClr val="414244"/>
      </a:lt1>
      <a:dk2>
        <a:srgbClr val="FFFFFF"/>
      </a:dk2>
      <a:lt2>
        <a:srgbClr val="0051AF"/>
      </a:lt2>
      <a:accent1>
        <a:srgbClr val="00BCEB"/>
      </a:accent1>
      <a:accent2>
        <a:srgbClr val="74BF4B"/>
      </a:accent2>
      <a:accent3>
        <a:srgbClr val="0051AF"/>
      </a:accent3>
      <a:accent4>
        <a:srgbClr val="E2E2E2"/>
      </a:accent4>
      <a:accent5>
        <a:srgbClr val="FBAB2C"/>
      </a:accent5>
      <a:accent6>
        <a:srgbClr val="E3241B"/>
      </a:accent6>
      <a:hlink>
        <a:srgbClr val="0050AE"/>
      </a:hlink>
      <a:folHlink>
        <a:srgbClr val="00BCEB"/>
      </a:folHlink>
    </a:clrScheme>
    <a:fontScheme name="Custom 13">
      <a:majorFont>
        <a:latin typeface="CiscoSansTT ExtraLight"/>
        <a:ea typeface=""/>
        <a:cs typeface=""/>
      </a:majorFont>
      <a:minorFont>
        <a:latin typeface="CiscoSansT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45720" rIns="45720"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bg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3 Cisco_PowerPoint_Template_Light_12-6-22 AE v5.potx" id="{02CFFE99-3FA0-4030-B4AB-C66403B6984A}" vid="{54E01BF6-73E5-488F-B288-8B939CB3D3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F9FA14C64E5C408EF451846AED2714" ma:contentTypeVersion="13" ma:contentTypeDescription="Create a new document." ma:contentTypeScope="" ma:versionID="326ed3dd011f0f3fb73abcab1e540cb6">
  <xsd:schema xmlns:xsd="http://www.w3.org/2001/XMLSchema" xmlns:xs="http://www.w3.org/2001/XMLSchema" xmlns:p="http://schemas.microsoft.com/office/2006/metadata/properties" xmlns:ns2="d7a42288-6dd2-4d7c-bc43-253fb2924eee" xmlns:ns3="d9415f13-3030-419a-be9b-e5411acb7e95" targetNamespace="http://schemas.microsoft.com/office/2006/metadata/properties" ma:root="true" ma:fieldsID="a79f9c6a32091e64d14d30b0d30232d8" ns2:_="" ns3:_="">
    <xsd:import namespace="d7a42288-6dd2-4d7c-bc43-253fb2924eee"/>
    <xsd:import namespace="d9415f13-3030-419a-be9b-e5411acb7e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42288-6dd2-4d7c-bc43-253fb2924ee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415f13-3030-419a-be9b-e5411acb7e9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9168c6d8-f650-4a65-a55f-70b75074a347}" ma:internalName="TaxCatchAll" ma:showField="CatchAllData" ma:web="d9415f13-3030-419a-be9b-e5411acb7e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a42288-6dd2-4d7c-bc43-253fb2924eee">
      <Terms xmlns="http://schemas.microsoft.com/office/infopath/2007/PartnerControls"/>
    </lcf76f155ced4ddcb4097134ff3c332f>
    <TaxCatchAll xmlns="d9415f13-3030-419a-be9b-e5411acb7e95" xsi:nil="true"/>
  </documentManagement>
</p:properties>
</file>

<file path=customXml/itemProps1.xml><?xml version="1.0" encoding="utf-8"?>
<ds:datastoreItem xmlns:ds="http://schemas.openxmlformats.org/officeDocument/2006/customXml" ds:itemID="{520E423A-15BC-465E-9A80-F13FCECC36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a42288-6dd2-4d7c-bc43-253fb2924eee"/>
    <ds:schemaRef ds:uri="d9415f13-3030-419a-be9b-e5411acb7e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001F53-8A92-407A-A3BF-3F18E2D67B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4AB3B6-5905-4CD2-88E7-5011C6A785B5}">
  <ds:schemaRefs>
    <ds:schemaRef ds:uri="http://schemas.microsoft.com/office/2006/metadata/properties"/>
    <ds:schemaRef ds:uri="http://schemas.microsoft.com/office/infopath/2007/PartnerControls"/>
    <ds:schemaRef ds:uri="d7a42288-6dd2-4d7c-bc43-253fb2924eee"/>
    <ds:schemaRef ds:uri="d9415f13-3030-419a-be9b-e5411acb7e9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99853</TotalTime>
  <Words>438</Words>
  <Application>Microsoft Office PowerPoint</Application>
  <PresentationFormat>Widescreen</PresentationFormat>
  <Paragraphs>57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CiscoSansTT ExtraLight</vt:lpstr>
      <vt:lpstr>Arial</vt:lpstr>
      <vt:lpstr>Calibri</vt:lpstr>
      <vt:lpstr>CiscoSansTT Light</vt:lpstr>
      <vt:lpstr>2024 Cisco Template Master</vt:lpstr>
      <vt:lpstr>Instructions</vt:lpstr>
      <vt:lpstr>PowerPoint Presentation</vt:lpstr>
      <vt:lpstr>PowerPoint Presentation</vt:lpstr>
    </vt:vector>
  </TitlesOfParts>
  <Company>NDS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 Hatch for Cisco</dc:creator>
  <cp:lastModifiedBy>anushabamaragatti@outlook.com</cp:lastModifiedBy>
  <cp:revision>1198</cp:revision>
  <cp:lastPrinted>2022-03-18T19:12:29Z</cp:lastPrinted>
  <dcterms:created xsi:type="dcterms:W3CDTF">2014-07-09T19:55:36Z</dcterms:created>
  <dcterms:modified xsi:type="dcterms:W3CDTF">2025-04-04T07:35:28Z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2024-04-30T18:46:29Z</vt:lpwstr>
  </property>
  <property fmtid="{D5CDD505-2E9C-101B-9397-08002B2CF9AE}" pid="4" name="MSIP_Label_c8f49a32-fde3-48a5-9266-b5b0972a22dc_Method">
    <vt:lpwstr>Privileged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51fd497a-6e25-4faa-948f-f58f2be92617</vt:lpwstr>
  </property>
  <property fmtid="{D5CDD505-2E9C-101B-9397-08002B2CF9AE}" pid="8" name="MSIP_Label_c8f49a32-fde3-48a5-9266-b5b0972a22dc_ContentBits">
    <vt:lpwstr>2</vt:lpwstr>
  </property>
  <property fmtid="{D5CDD505-2E9C-101B-9397-08002B2CF9AE}" pid="9" name="ClassificationContentMarkingFooterLocations">
    <vt:lpwstr>2023 Cisco Template Master:9</vt:lpwstr>
  </property>
  <property fmtid="{D5CDD505-2E9C-101B-9397-08002B2CF9AE}" pid="10" name="ClassificationContentMarkingFooterText">
    <vt:lpwstr>Cisco Confidential</vt:lpwstr>
  </property>
  <property fmtid="{D5CDD505-2E9C-101B-9397-08002B2CF9AE}" pid="11" name="ContentTypeId">
    <vt:lpwstr>0x01010078F9FA14C64E5C408EF451846AED2714</vt:lpwstr>
  </property>
</Properties>
</file>